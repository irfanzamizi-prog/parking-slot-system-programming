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-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0547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0077A8">
              <a:alpha val="20000"/>
            </a:srgbClr>
          </a:solidFill>
          <a:ln w="12700">
            <a:solidFill>
              <a:srgbClr val="0077A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22960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1117"/>
                </a:solidFill>
              </a:rPr>
              <a:t>P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554480" y="11430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Slot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554480" y="17373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System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554480" y="2514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1433 — Programming Fundamentals 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2880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Kolej Profesional MARA Indera Mahkota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554480" y="3474720"/>
            <a:ext cx="210312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1554480" y="34747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Manipulation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86200" y="3474720"/>
            <a:ext cx="210312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3886200" y="34747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3474720"/>
            <a:ext cx="210312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6217920" y="34747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 •  Text File Storage  •  Menu-Driven Program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128016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21262D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menu-driven Python application that manages parking reservations using string manipulation, file I/O, and exception handling.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2560320" cy="2651760"/>
          </a:xfrm>
          <a:prstGeom prst="rect">
            <a:avLst/>
          </a:prstGeom>
          <a:solidFill>
            <a:srgbClr val="21262D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25603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457200" y="21488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2560320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Categories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611880"/>
            <a:ext cx="256032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RC, MC, VIP, DP, EV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64408" y="2011680"/>
            <a:ext cx="2560320" cy="2651760"/>
          </a:xfrm>
          <a:prstGeom prst="rect">
            <a:avLst/>
          </a:prstGeom>
          <a:solidFill>
            <a:srgbClr val="21262D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Shape 12"/>
          <p:cNvSpPr/>
          <p:nvPr/>
        </p:nvSpPr>
        <p:spPr>
          <a:xfrm>
            <a:off x="3264408" y="2011680"/>
            <a:ext cx="25603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Text 13"/>
          <p:cNvSpPr/>
          <p:nvPr/>
        </p:nvSpPr>
        <p:spPr>
          <a:xfrm>
            <a:off x="3264408" y="21488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3264408" y="3200400"/>
            <a:ext cx="2560320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Options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64408" y="3611880"/>
            <a:ext cx="256032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Reserve, Search, Count, View, Exit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71616" y="2011680"/>
            <a:ext cx="2560320" cy="2651760"/>
          </a:xfrm>
          <a:prstGeom prst="rect">
            <a:avLst/>
          </a:prstGeom>
          <a:solidFill>
            <a:srgbClr val="21262D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Shape 17"/>
          <p:cNvSpPr/>
          <p:nvPr/>
        </p:nvSpPr>
        <p:spPr>
          <a:xfrm>
            <a:off x="6071616" y="2011680"/>
            <a:ext cx="25603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/>
          <p:nvPr/>
        </p:nvSpPr>
        <p:spPr>
          <a:xfrm>
            <a:off x="6071616" y="21488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6071616" y="3200400"/>
            <a:ext cx="2560320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71616" y="3611880"/>
            <a:ext cx="256032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approach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Text 2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Data stored in: reservations.txt  (pipe-delimited format)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1554480" cy="29260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CATEGORIES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Categories &amp; Pricing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1554480" cy="3383280"/>
          </a:xfrm>
          <a:prstGeom prst="rect">
            <a:avLst/>
          </a:prstGeom>
          <a:solidFill>
            <a:srgbClr val="21262D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155448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274320" y="1234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117"/>
                </a:solidFill>
              </a:rPr>
              <a:t>RC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1783080"/>
            <a:ext cx="155448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Car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2423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5.00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4320" y="3063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hour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429000"/>
            <a:ext cx="109728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502920" y="34290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</a:rPr>
              <a:t>20 slots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3886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</a:rPr>
              <a:t>e.g. RC01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11680" y="1234440"/>
            <a:ext cx="1554480" cy="3383280"/>
          </a:xfrm>
          <a:prstGeom prst="rect">
            <a:avLst/>
          </a:prstGeom>
          <a:solidFill>
            <a:srgbClr val="21262D"/>
          </a:solidFill>
          <a:ln w="1905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Shape 14"/>
          <p:cNvSpPr/>
          <p:nvPr/>
        </p:nvSpPr>
        <p:spPr>
          <a:xfrm>
            <a:off x="2011680" y="1234440"/>
            <a:ext cx="1554480" cy="50292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2011680" y="1234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117"/>
                </a:solidFill>
              </a:rPr>
              <a:t>MC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011680" y="1783080"/>
            <a:ext cx="155448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Motorcycle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011680" y="2423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2.00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011680" y="3063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hour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3429000"/>
            <a:ext cx="109728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2240280" y="34290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9D353"/>
                </a:solidFill>
              </a:rPr>
              <a:t>30 slots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11680" y="3886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</a:rPr>
              <a:t>e.g. MC01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749040" y="1234440"/>
            <a:ext cx="1554480" cy="3383280"/>
          </a:xfrm>
          <a:prstGeom prst="rect">
            <a:avLst/>
          </a:prstGeom>
          <a:solidFill>
            <a:srgbClr val="21262D"/>
          </a:solidFill>
          <a:ln w="1905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Shape 23"/>
          <p:cNvSpPr/>
          <p:nvPr/>
        </p:nvSpPr>
        <p:spPr>
          <a:xfrm>
            <a:off x="3749040" y="1234440"/>
            <a:ext cx="1554480" cy="5029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Text 24"/>
          <p:cNvSpPr/>
          <p:nvPr/>
        </p:nvSpPr>
        <p:spPr>
          <a:xfrm>
            <a:off x="3749040" y="1234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117"/>
                </a:solidFill>
              </a:rPr>
              <a:t>VIP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749040" y="1783080"/>
            <a:ext cx="155448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Parking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49040" y="2423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15.00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749040" y="3063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hour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977640" y="3429000"/>
            <a:ext cx="109728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Text 29"/>
          <p:cNvSpPr/>
          <p:nvPr/>
        </p:nvSpPr>
        <p:spPr>
          <a:xfrm>
            <a:off x="3977640" y="34290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C040"/>
                </a:solidFill>
              </a:rPr>
              <a:t>5 slots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49040" y="3886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</a:rPr>
              <a:t>e.g. VIP01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0" y="1234440"/>
            <a:ext cx="1554480" cy="3383280"/>
          </a:xfrm>
          <a:prstGeom prst="rect">
            <a:avLst/>
          </a:prstGeom>
          <a:solidFill>
            <a:srgbClr val="21262D"/>
          </a:solidFill>
          <a:ln w="1905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" name="Shape 32"/>
          <p:cNvSpPr/>
          <p:nvPr/>
        </p:nvSpPr>
        <p:spPr>
          <a:xfrm>
            <a:off x="5486400" y="1234440"/>
            <a:ext cx="1554480" cy="50292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" name="Text 33"/>
          <p:cNvSpPr/>
          <p:nvPr/>
        </p:nvSpPr>
        <p:spPr>
          <a:xfrm>
            <a:off x="5486400" y="1234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117"/>
                </a:solidFill>
              </a:rPr>
              <a:t>DP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486400" y="1783080"/>
            <a:ext cx="155448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86400" y="2423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3.00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486400" y="3063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hour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715000" y="3429000"/>
            <a:ext cx="109728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0" name="Text 38"/>
          <p:cNvSpPr/>
          <p:nvPr/>
        </p:nvSpPr>
        <p:spPr>
          <a:xfrm>
            <a:off x="5715000" y="34290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5C5C"/>
                </a:solidFill>
              </a:rPr>
              <a:t>5 slots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0" y="3886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</a:rPr>
              <a:t>e.g. DP01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223760" y="1234440"/>
            <a:ext cx="1554480" cy="3383280"/>
          </a:xfrm>
          <a:prstGeom prst="rect">
            <a:avLst/>
          </a:prstGeom>
          <a:solidFill>
            <a:srgbClr val="21262D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3" name="Shape 41"/>
          <p:cNvSpPr/>
          <p:nvPr/>
        </p:nvSpPr>
        <p:spPr>
          <a:xfrm>
            <a:off x="7223760" y="1234440"/>
            <a:ext cx="1554480" cy="502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4" name="Text 42"/>
          <p:cNvSpPr/>
          <p:nvPr/>
        </p:nvSpPr>
        <p:spPr>
          <a:xfrm>
            <a:off x="7223760" y="1234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117"/>
                </a:solidFill>
              </a:rPr>
              <a:t>EV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7223760" y="1783080"/>
            <a:ext cx="155448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223760" y="2423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10.00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7223760" y="3063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hour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452360" y="3429000"/>
            <a:ext cx="109728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9" name="Text 47"/>
          <p:cNvSpPr/>
          <p:nvPr/>
        </p:nvSpPr>
        <p:spPr>
          <a:xfrm>
            <a:off x="7452360" y="34290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78BFA"/>
                </a:solidFill>
              </a:rPr>
              <a:t>10 slots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223760" y="3886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</a:rPr>
              <a:t>e.g. EV01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2" name="Text 5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Total capacity: 70 parking slots across all categories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182880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STRING OPERATIONS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Manipulation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14800" cy="1783080"/>
          </a:xfrm>
          <a:prstGeom prst="rect">
            <a:avLst/>
          </a:prstGeom>
          <a:solidFill>
            <a:srgbClr val="21262D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123444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Slicing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initials from customer name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56232"/>
            <a:ext cx="3931920" cy="6583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502920" y="1856232"/>
            <a:ext cx="3840480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 = name.split()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w in words: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initials += w[0]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560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"AHMAD IRFAN" → "AI"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4114800" cy="1783080"/>
          </a:xfrm>
          <a:prstGeom prst="rect">
            <a:avLst/>
          </a:prstGeom>
          <a:solidFill>
            <a:srgbClr val="21262D"/>
          </a:solidFill>
          <a:ln w="1905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1234440" cy="32004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Text 13"/>
          <p:cNvSpPr/>
          <p:nvPr/>
        </p:nvSpPr>
        <p:spPr>
          <a:xfrm>
            <a:off x="4754880" y="11887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Formatting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554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Reformat date from DD/MM/YYYY to YYYYMMDD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1856232"/>
            <a:ext cx="3931920" cy="6583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4892040" y="1856232"/>
            <a:ext cx="3840480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parts = date.split("/")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formatted = year+month+day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2560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"25/01/2025" → "20250125"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154680"/>
            <a:ext cx="4114800" cy="1783080"/>
          </a:xfrm>
          <a:prstGeom prst="rect">
            <a:avLst/>
          </a:prstGeom>
          <a:solidFill>
            <a:srgbClr val="21262D"/>
          </a:solidFill>
          <a:ln w="1905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Shape 19"/>
          <p:cNvSpPr/>
          <p:nvPr/>
        </p:nvSpPr>
        <p:spPr>
          <a:xfrm>
            <a:off x="365760" y="3154680"/>
            <a:ext cx="1234440" cy="32004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365760" y="31546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Concatenation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520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Reservation ID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822192"/>
            <a:ext cx="3931920" cy="6583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Text 23"/>
          <p:cNvSpPr/>
          <p:nvPr/>
        </p:nvSpPr>
        <p:spPr>
          <a:xfrm>
            <a:off x="502920" y="3822192"/>
            <a:ext cx="3840480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res_id = initials + "-"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+ formatted_date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+ "-" + slot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526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"AI-20250125-RC01"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154680"/>
            <a:ext cx="4114800" cy="1783080"/>
          </a:xfrm>
          <a:prstGeom prst="rect">
            <a:avLst/>
          </a:prstGeom>
          <a:solidFill>
            <a:srgbClr val="21262D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Shape 26"/>
          <p:cNvSpPr/>
          <p:nvPr/>
        </p:nvSpPr>
        <p:spPr>
          <a:xfrm>
            <a:off x="4754880" y="3154680"/>
            <a:ext cx="1234440" cy="3200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" name="Text 27"/>
          <p:cNvSpPr/>
          <p:nvPr/>
        </p:nvSpPr>
        <p:spPr>
          <a:xfrm>
            <a:off x="4754880" y="31546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Searching / Modifying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3520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uppercase input &amp; search records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3822192"/>
            <a:ext cx="3931920" cy="6583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Text 30"/>
          <p:cNvSpPr/>
          <p:nvPr/>
        </p:nvSpPr>
        <p:spPr>
          <a:xfrm>
            <a:off x="4892040" y="3822192"/>
            <a:ext cx="3840480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name_input.isupper()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slot[0:2] == "RC"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r['date'] == date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46320" y="4526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Find bookings by slot/date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" name="Text 3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String ops are used in: make_reservation_id()  •  get_booked_slots()  •  count_by_category()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228600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FILE &amp; EXCEPTION HANDLING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 &amp; Exception Handling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023360" cy="3520440"/>
          </a:xfrm>
          <a:prstGeom prst="rect">
            <a:avLst/>
          </a:prstGeom>
          <a:solidFill>
            <a:srgbClr val="21262D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402336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</a:rPr>
              <a:t>📁  File Handling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691640"/>
            <a:ext cx="685800" cy="2743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502920" y="16916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CREATE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234440" y="169164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create_file() — writes headers if file does not exist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404872"/>
            <a:ext cx="685800" cy="2743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502920" y="240487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WRITE (Append)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234440" y="240487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save_reservation() — open(FILE, 'a') to add record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118104"/>
            <a:ext cx="685800" cy="2743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502920" y="311810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READ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234440" y="3118104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read_all_reservations() — open(FILE, 'r'), readlines()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831336"/>
            <a:ext cx="685800" cy="2743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Text 17"/>
          <p:cNvSpPr/>
          <p:nvPr/>
        </p:nvSpPr>
        <p:spPr>
          <a:xfrm>
            <a:off x="502920" y="383133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Format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34440" y="383133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Pipe-delimited: ID|Name|Date|Slot|Price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188720"/>
            <a:ext cx="4023360" cy="3520440"/>
          </a:xfrm>
          <a:prstGeom prst="rect">
            <a:avLst/>
          </a:prstGeom>
          <a:solidFill>
            <a:srgbClr val="21262D"/>
          </a:solidFill>
          <a:ln w="1905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Shape 20"/>
          <p:cNvSpPr/>
          <p:nvPr/>
        </p:nvSpPr>
        <p:spPr>
          <a:xfrm>
            <a:off x="4754880" y="1188720"/>
            <a:ext cx="4023360" cy="384048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Text 21"/>
          <p:cNvSpPr/>
          <p:nvPr/>
        </p:nvSpPr>
        <p:spPr>
          <a:xfrm>
            <a:off x="4754880" y="11887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</a:rPr>
              <a:t>⚠️  Exception Handling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92040" y="1691640"/>
            <a:ext cx="3566160" cy="822960"/>
          </a:xfrm>
          <a:prstGeom prst="rect">
            <a:avLst/>
          </a:prstGeom>
          <a:solidFill>
            <a:srgbClr val="0D1117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Shape 23"/>
          <p:cNvSpPr/>
          <p:nvPr/>
        </p:nvSpPr>
        <p:spPr>
          <a:xfrm>
            <a:off x="4892040" y="1691640"/>
            <a:ext cx="54864" cy="82296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Text 24"/>
          <p:cNvSpPr/>
          <p:nvPr/>
        </p:nvSpPr>
        <p:spPr>
          <a:xfrm>
            <a:off x="4983480" y="1737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203911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to open &amp; read/write the file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92040" y="2651760"/>
            <a:ext cx="3566160" cy="822960"/>
          </a:xfrm>
          <a:prstGeom prst="rect">
            <a:avLst/>
          </a:prstGeom>
          <a:solidFill>
            <a:srgbClr val="0D1117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" name="Shape 27"/>
          <p:cNvSpPr/>
          <p:nvPr/>
        </p:nvSpPr>
        <p:spPr>
          <a:xfrm>
            <a:off x="4892040" y="2651760"/>
            <a:ext cx="54864" cy="82296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Text 28"/>
          <p:cNvSpPr/>
          <p:nvPr/>
        </p:nvSpPr>
        <p:spPr>
          <a:xfrm>
            <a:off x="4983480" y="2697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except: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0" y="299923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FileNotFoundError — prints 'No reservations found'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92040" y="3611880"/>
            <a:ext cx="3566160" cy="822960"/>
          </a:xfrm>
          <a:prstGeom prst="rect">
            <a:avLst/>
          </a:prstGeom>
          <a:solidFill>
            <a:srgbClr val="0D1117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3" name="Shape 31"/>
          <p:cNvSpPr/>
          <p:nvPr/>
        </p:nvSpPr>
        <p:spPr>
          <a:xfrm>
            <a:off x="4892040" y="3611880"/>
            <a:ext cx="54864" cy="82296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" name="Text 32"/>
          <p:cNvSpPr/>
          <p:nvPr/>
        </p:nvSpPr>
        <p:spPr>
          <a:xfrm>
            <a:off x="4983480" y="3657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finally: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0" y="395935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runs — prints operation completion message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7" name="Text 3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Both save_reservation() and read_all_reservations() use try / except / finally blocks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RESERVATION ID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Reservation ID is Generated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828800" y="1188720"/>
            <a:ext cx="5486400" cy="658368"/>
          </a:xfrm>
          <a:prstGeom prst="rect">
            <a:avLst/>
          </a:prstGeom>
          <a:solidFill>
            <a:srgbClr val="21262D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1828800" y="118872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AI-20250125-RC01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2743200" cy="2743200"/>
          </a:xfrm>
          <a:prstGeom prst="rect">
            <a:avLst/>
          </a:prstGeom>
          <a:solidFill>
            <a:srgbClr val="21262D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274320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INITIALS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4231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</a:rPr>
              <a:t>Input: "AHMAD IRFAN"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456432"/>
            <a:ext cx="2743200" cy="5943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letter of each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in the name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4114800"/>
            <a:ext cx="182880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Text 13"/>
          <p:cNvSpPr/>
          <p:nvPr/>
        </p:nvSpPr>
        <p:spPr>
          <a:xfrm>
            <a:off x="91440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B4D8"/>
                </a:solidFill>
              </a:rPr>
              <a:t>str op: slicing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99228" y="2057400"/>
            <a:ext cx="2743200" cy="2743200"/>
          </a:xfrm>
          <a:prstGeom prst="rect">
            <a:avLst/>
          </a:prstGeom>
          <a:solidFill>
            <a:srgbClr val="21262D"/>
          </a:solidFill>
          <a:ln w="1905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MY" dirty="0"/>
          </a:p>
        </p:txBody>
      </p:sp>
      <p:sp>
        <p:nvSpPr>
          <p:cNvPr id="17" name="Shape 15"/>
          <p:cNvSpPr/>
          <p:nvPr/>
        </p:nvSpPr>
        <p:spPr>
          <a:xfrm>
            <a:off x="3200400" y="2066544"/>
            <a:ext cx="2743200" cy="347472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3198056" y="2070647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DATE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92198" y="24231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20250125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195714" y="3063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</a:rPr>
              <a:t>Input: "25/01/2025"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1573" y="3456432"/>
            <a:ext cx="2743200" cy="5943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YYYY + MM + DD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(reformatted)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47054" y="4114800"/>
            <a:ext cx="182880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Text 21"/>
          <p:cNvSpPr/>
          <p:nvPr/>
        </p:nvSpPr>
        <p:spPr>
          <a:xfrm>
            <a:off x="3652911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9D353"/>
                </a:solidFill>
              </a:rPr>
              <a:t>str op: formatting</a:t>
            </a:r>
            <a:endParaRPr lang="en-US" sz="10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CA07E09-DB9E-6BA4-E700-0007531E64EB}"/>
              </a:ext>
            </a:extLst>
          </p:cNvPr>
          <p:cNvGrpSpPr/>
          <p:nvPr/>
        </p:nvGrpSpPr>
        <p:grpSpPr>
          <a:xfrm>
            <a:off x="5962360" y="2057400"/>
            <a:ext cx="2743200" cy="2743200"/>
            <a:chOff x="5943600" y="2057400"/>
            <a:chExt cx="2743200" cy="2743200"/>
          </a:xfrm>
        </p:grpSpPr>
        <p:sp>
          <p:nvSpPr>
            <p:cNvPr id="24" name="Shape 22"/>
            <p:cNvSpPr/>
            <p:nvPr/>
          </p:nvSpPr>
          <p:spPr>
            <a:xfrm>
              <a:off x="5943600" y="2057400"/>
              <a:ext cx="2743200" cy="2743200"/>
            </a:xfrm>
            <a:prstGeom prst="rect">
              <a:avLst/>
            </a:prstGeom>
            <a:solidFill>
              <a:srgbClr val="21262D"/>
            </a:solidFill>
            <a:ln w="19050">
              <a:solidFill>
                <a:srgbClr val="F0C040"/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5" name="Shape 23"/>
            <p:cNvSpPr/>
            <p:nvPr/>
          </p:nvSpPr>
          <p:spPr>
            <a:xfrm>
              <a:off x="5943600" y="2057400"/>
              <a:ext cx="2743200" cy="347472"/>
            </a:xfrm>
            <a:prstGeom prst="rect">
              <a:avLst/>
            </a:prstGeom>
            <a:solidFill>
              <a:srgbClr val="F0C040"/>
            </a:solidFill>
            <a:ln w="12700">
              <a:solidFill>
                <a:srgbClr val="F0C040"/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Text 24"/>
            <p:cNvSpPr/>
            <p:nvPr/>
          </p:nvSpPr>
          <p:spPr>
            <a:xfrm>
              <a:off x="5943600" y="2057400"/>
              <a:ext cx="27432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D1117"/>
                  </a:solidFill>
                </a:rPr>
                <a:t>SLOT CODE</a:t>
              </a:r>
              <a:endParaRPr lang="en-US" sz="11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5943600" y="2423160"/>
              <a:ext cx="274320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0C04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RC01</a:t>
              </a:r>
              <a:endParaRPr lang="en-US" sz="22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5943600" y="3063240"/>
              <a:ext cx="27432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8B949E"/>
                  </a:solidFill>
                </a:rPr>
                <a:t>Input: "Category RC, slot 1"</a:t>
              </a:r>
              <a:endParaRPr lang="en-US" sz="11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5943600" y="3456432"/>
              <a:ext cx="2743200" cy="594360"/>
            </a:xfrm>
            <a:prstGeom prst="rect">
              <a:avLst/>
            </a:prstGeom>
            <a:noFill/>
            <a:ln/>
          </p:spPr>
          <p:txBody>
            <a:bodyPr wrap="square" lIns="63500" tIns="63500" rIns="63500" bIns="6350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E6EDF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Category prefix +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E6EDF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zero-padded number</a:t>
              </a:r>
              <a:endParaRPr lang="en-US" sz="11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6400800" y="4114800"/>
              <a:ext cx="1828800" cy="274320"/>
            </a:xfrm>
            <a:prstGeom prst="rect">
              <a:avLst/>
            </a:prstGeom>
            <a:solidFill>
              <a:srgbClr val="0D1117"/>
            </a:solidFill>
            <a:ln w="12700">
              <a:solidFill>
                <a:srgbClr val="F0C040"/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31" name="Text 29"/>
            <p:cNvSpPr/>
            <p:nvPr/>
          </p:nvSpPr>
          <p:spPr>
            <a:xfrm>
              <a:off x="6400800" y="411480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i="1" dirty="0">
                  <a:solidFill>
                    <a:srgbClr val="F0C040"/>
                  </a:solidFill>
                </a:rPr>
                <a:t>str op: formatting</a:t>
              </a:r>
              <a:endParaRPr lang="en-US" sz="1000" dirty="0"/>
            </a:p>
          </p:txBody>
        </p:sp>
      </p:grpSp>
      <p:sp>
        <p:nvSpPr>
          <p:cNvPr id="32" name="Text 30"/>
          <p:cNvSpPr/>
          <p:nvPr/>
        </p:nvSpPr>
        <p:spPr>
          <a:xfrm>
            <a:off x="3055033" y="339242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949E"/>
                </a:solidFill>
              </a:rPr>
              <a:t>+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819341" y="3383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949E"/>
                </a:solidFill>
              </a:rPr>
              <a:t>+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" name="Text 3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Function: make_reservation_id(name, date, slot)  →  Returns the unique reservation ID string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137160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MENU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Menu — Program Features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14800" cy="1143000"/>
          </a:xfrm>
          <a:prstGeom prst="rect">
            <a:avLst/>
          </a:prstGeom>
          <a:solidFill>
            <a:srgbClr val="21262D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02336" cy="40233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2801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New Reservation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645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uppercase name, date (DD/MM/YYYY), picks category &amp; available slot, generates ID, saves to file.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057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save_reservation()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4114800" cy="1143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Shape 11"/>
          <p:cNvSpPr/>
          <p:nvPr/>
        </p:nvSpPr>
        <p:spPr>
          <a:xfrm>
            <a:off x="4846320" y="1280160"/>
            <a:ext cx="402336" cy="402336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4846320" y="1280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49240" y="12801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Reservation ID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49240" y="1645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all records, searches for matching ID string, displays booking details or 'not found' message.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057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search_by_id()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468880"/>
            <a:ext cx="4114800" cy="1143000"/>
          </a:xfrm>
          <a:prstGeom prst="rect">
            <a:avLst/>
          </a:prstGeom>
          <a:solidFill>
            <a:srgbClr val="21262D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Shape 17"/>
          <p:cNvSpPr/>
          <p:nvPr/>
        </p:nvSpPr>
        <p:spPr>
          <a:xfrm>
            <a:off x="457200" y="2560320"/>
            <a:ext cx="402336" cy="402336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/>
          <p:nvPr/>
        </p:nvSpPr>
        <p:spPr>
          <a:xfrm>
            <a:off x="457200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25603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by Date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2926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all records by date, counts total bookings, lists each matching reservation.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3375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count_by_date()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468880"/>
            <a:ext cx="4114800" cy="1143000"/>
          </a:xfrm>
          <a:prstGeom prst="rect">
            <a:avLst/>
          </a:prstGeom>
          <a:solidFill>
            <a:srgbClr val="21262D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Shape 23"/>
          <p:cNvSpPr/>
          <p:nvPr/>
        </p:nvSpPr>
        <p:spPr>
          <a:xfrm>
            <a:off x="4846320" y="2560320"/>
            <a:ext cx="402336" cy="40233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Text 24"/>
          <p:cNvSpPr/>
          <p:nvPr/>
        </p:nvSpPr>
        <p:spPr>
          <a:xfrm>
            <a:off x="4846320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49240" y="25603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by Category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49240" y="2926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string slicing (slot[0:2]) to categorize all bookings, displays totals for RC/MC/VIP/DP/EV.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33375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count_by_category()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3749040"/>
            <a:ext cx="4114800" cy="1143000"/>
          </a:xfrm>
          <a:prstGeom prst="rect">
            <a:avLst/>
          </a:prstGeom>
          <a:solidFill>
            <a:srgbClr val="21262D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Shape 29"/>
          <p:cNvSpPr/>
          <p:nvPr/>
        </p:nvSpPr>
        <p:spPr>
          <a:xfrm>
            <a:off x="457200" y="3840480"/>
            <a:ext cx="402336" cy="402336"/>
          </a:xfrm>
          <a:prstGeom prst="ellipse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Text 30"/>
          <p:cNvSpPr/>
          <p:nvPr/>
        </p:nvSpPr>
        <p:spPr>
          <a:xfrm>
            <a:off x="457200" y="3840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60120" y="38404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Reservations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60120" y="4206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entire file, displays formatted table with all stored records.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617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0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read_all_reservations()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3749040"/>
            <a:ext cx="4114800" cy="1143000"/>
          </a:xfrm>
          <a:prstGeom prst="rect">
            <a:avLst/>
          </a:prstGeom>
          <a:solidFill>
            <a:srgbClr val="21262D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7" name="Shape 35"/>
          <p:cNvSpPr/>
          <p:nvPr/>
        </p:nvSpPr>
        <p:spPr>
          <a:xfrm>
            <a:off x="4846320" y="3840480"/>
            <a:ext cx="402336" cy="402336"/>
          </a:xfrm>
          <a:prstGeom prst="ellipse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8" name="Text 36"/>
          <p:cNvSpPr/>
          <p:nvPr/>
        </p:nvSpPr>
        <p:spPr>
          <a:xfrm>
            <a:off x="4846320" y="3840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</a:rPr>
              <a:t>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49240" y="38404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Program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349240" y="4206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exit flag to 'YES', breaks the main loop, prints goodbye message.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46320" y="4617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exit_program = 'YES'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3" name="Text 4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Main loop uses a for-loop (range 100) with exit flag pattern instead of while True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-914400" y="2286000"/>
            <a:ext cx="5029200" cy="50292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7863840" cy="566928"/>
          </a:xfrm>
          <a:prstGeom prst="rect">
            <a:avLst/>
          </a:prstGeom>
          <a:solidFill>
            <a:srgbClr val="21262D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54864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713232" y="123444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4D8"/>
                </a:solidFill>
              </a:rPr>
              <a:t>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23444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Manipulation — slicing, formatting, concatenation, searching used throughout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920240"/>
            <a:ext cx="7863840" cy="566928"/>
          </a:xfrm>
          <a:prstGeom prst="rect">
            <a:avLst/>
          </a:prstGeom>
          <a:solidFill>
            <a:srgbClr val="21262D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640080" y="1920240"/>
            <a:ext cx="54864" cy="566928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713232" y="192024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9D353"/>
                </a:solidFill>
              </a:rPr>
              <a:t>✦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192024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 — create, read, and write (append) to reservations.txt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606040"/>
            <a:ext cx="7863840" cy="566928"/>
          </a:xfrm>
          <a:prstGeom prst="rect">
            <a:avLst/>
          </a:prstGeom>
          <a:solidFill>
            <a:srgbClr val="21262D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Shape 12"/>
          <p:cNvSpPr/>
          <p:nvPr/>
        </p:nvSpPr>
        <p:spPr>
          <a:xfrm>
            <a:off x="640080" y="2606040"/>
            <a:ext cx="54864" cy="56692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Text 13"/>
          <p:cNvSpPr/>
          <p:nvPr/>
        </p:nvSpPr>
        <p:spPr>
          <a:xfrm>
            <a:off x="713232" y="260604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0C040"/>
                </a:solidFill>
              </a:rPr>
              <a:t>✦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 — try / except / finally in all file operations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291840"/>
            <a:ext cx="7863840" cy="566928"/>
          </a:xfrm>
          <a:prstGeom prst="rect">
            <a:avLst/>
          </a:prstGeom>
          <a:solidFill>
            <a:srgbClr val="21262D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Shape 16"/>
          <p:cNvSpPr/>
          <p:nvPr/>
        </p:nvSpPr>
        <p:spPr>
          <a:xfrm>
            <a:off x="640080" y="3291840"/>
            <a:ext cx="54864" cy="5669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Text 17"/>
          <p:cNvSpPr/>
          <p:nvPr/>
        </p:nvSpPr>
        <p:spPr>
          <a:xfrm>
            <a:off x="713232" y="329184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78BFA"/>
                </a:solidFill>
              </a:rPr>
              <a:t>✦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329184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— 7 functions covering all system features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3977640"/>
            <a:ext cx="7863840" cy="566928"/>
          </a:xfrm>
          <a:prstGeom prst="rect">
            <a:avLst/>
          </a:prstGeom>
          <a:solidFill>
            <a:srgbClr val="21262D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Shape 20"/>
          <p:cNvSpPr/>
          <p:nvPr/>
        </p:nvSpPr>
        <p:spPr>
          <a:xfrm>
            <a:off x="640080" y="3977640"/>
            <a:ext cx="54864" cy="566928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Text 21"/>
          <p:cNvSpPr/>
          <p:nvPr/>
        </p:nvSpPr>
        <p:spPr>
          <a:xfrm>
            <a:off x="713232" y="397764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05C5C"/>
                </a:solidFill>
              </a:rPr>
              <a:t>✦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34440" y="397764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Validation — uppercase check, date format, valid slot selection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Text 2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Slot Reservation System  •  CSC 1433 — Programming Fundamentals 2  •  KPMIM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95CBB37DAFBB42BB4F1136D68BD4B8" ma:contentTypeVersion="12" ma:contentTypeDescription="Create a new document." ma:contentTypeScope="" ma:versionID="f38027b8c1ea8c9dace6dc07cbd57cb0">
  <xsd:schema xmlns:xsd="http://www.w3.org/2001/XMLSchema" xmlns:xs="http://www.w3.org/2001/XMLSchema" xmlns:p="http://schemas.microsoft.com/office/2006/metadata/properties" xmlns:ns2="a70036eb-48b5-450a-95f1-24fa1bf69676" xmlns:ns3="fcb20292-2169-4743-b657-cb22cf64ce75" targetNamespace="http://schemas.microsoft.com/office/2006/metadata/properties" ma:root="true" ma:fieldsID="0461606749df54f839f6b2bd88120fd7" ns2:_="" ns3:_="">
    <xsd:import namespace="a70036eb-48b5-450a-95f1-24fa1bf69676"/>
    <xsd:import namespace="fcb20292-2169-4743-b657-cb22cf64ce75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0036eb-48b5-450a-95f1-24fa1bf69676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b802eec2-c8ac-434d-95d0-4a37213ae62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b20292-2169-4743-b657-cb22cf64ce75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275114ed-c3be-4618-9e27-24ec0abab566}" ma:internalName="TaxCatchAll" ma:showField="CatchAllData" ma:web="fcb20292-2169-4743-b657-cb22cf64ce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a70036eb-48b5-450a-95f1-24fa1bf69676" xsi:nil="true"/>
    <TaxCatchAll xmlns="fcb20292-2169-4743-b657-cb22cf64ce75" xsi:nil="true"/>
    <lcf76f155ced4ddcb4097134ff3c332f xmlns="a70036eb-48b5-450a-95f1-24fa1bf6967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01B5FC2-1D36-432D-A122-BB3D67870DA6}"/>
</file>

<file path=customXml/itemProps2.xml><?xml version="1.0" encoding="utf-8"?>
<ds:datastoreItem xmlns:ds="http://schemas.openxmlformats.org/officeDocument/2006/customXml" ds:itemID="{C2E122FC-15CB-4CF8-B46E-61181485D874}"/>
</file>

<file path=customXml/itemProps3.xml><?xml version="1.0" encoding="utf-8"?>
<ds:datastoreItem xmlns:ds="http://schemas.openxmlformats.org/officeDocument/2006/customXml" ds:itemID="{988AC359-433E-48C1-BAE3-E0D991145E12}"/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831</Words>
  <Application>Microsoft Office PowerPoint</Application>
  <PresentationFormat>On-screen Show (16:9)</PresentationFormat>
  <Paragraphs>171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Parking Slot Reservation System</dc:title>
  <dc:subject>PptxGenJS Presentation</dc:subject>
  <dc:creator>PptxGenJS</dc:creator>
  <cp:lastModifiedBy>MUHAMMAD IRFAN MUHAIMIN BIN MUHD ZAMIZI</cp:lastModifiedBy>
  <cp:revision>2</cp:revision>
  <dcterms:created xsi:type="dcterms:W3CDTF">2026-02-19T01:59:06Z</dcterms:created>
  <dcterms:modified xsi:type="dcterms:W3CDTF">2026-02-19T02:11:55Z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0x010100C395CBB37DAFBB42BB4F1136D68BD4B8</vt:lpwstr>
  </property>
</Properties>
</file>